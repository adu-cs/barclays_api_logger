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5" r:id="rId4"/>
    <p:sldId id="263" r:id="rId5"/>
    <p:sldId id="259" r:id="rId6"/>
    <p:sldId id="266" r:id="rId7"/>
    <p:sldId id="264" r:id="rId8"/>
    <p:sldId id="262" r:id="rId9"/>
    <p:sldId id="261" r:id="rId10"/>
    <p:sldId id="260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F56598C-1E09-4EC9-BAA5-D7424DD43608}">
          <p14:sldIdLst>
            <p14:sldId id="256"/>
            <p14:sldId id="257"/>
            <p14:sldId id="265"/>
            <p14:sldId id="263"/>
            <p14:sldId id="259"/>
            <p14:sldId id="266"/>
            <p14:sldId id="264"/>
            <p14:sldId id="262"/>
            <p14:sldId id="261"/>
            <p14:sldId id="260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794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30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779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434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57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375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50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08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464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851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15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B067B6-754C-4EB4-A51E-7B007BB2CF3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BFE65E5-CF9B-44A1-9452-FC37D9D5F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00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nva.com/design/DAGjgflwtV0/VA5Yem-tke5LP_SxoN8IsQ/edit?utm_content=DAGjgflwtV0&amp;utm_campaign=designshare&amp;utm_medium=link2&amp;utm_source=sharebutto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28AF-3BDE-A469-DBA1-A557CFDC4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845" y="406400"/>
            <a:ext cx="9144000" cy="2387600"/>
          </a:xfrm>
        </p:spPr>
        <p:txBody>
          <a:bodyPr/>
          <a:lstStyle/>
          <a:p>
            <a:r>
              <a:rPr lang="en-US" dirty="0"/>
              <a:t>Team Gliders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1A7AC-E107-E707-16AE-F56DE17E8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865" y="3621703"/>
            <a:ext cx="9144000" cy="1655762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ADARSH BALACHANDAR – RA2211026010492</a:t>
            </a:r>
          </a:p>
          <a:p>
            <a:pPr algn="l"/>
            <a:r>
              <a:rPr lang="en-US" dirty="0"/>
              <a:t>BALAKUMAR RAGURAM – RA2211042010053</a:t>
            </a:r>
          </a:p>
          <a:p>
            <a:pPr algn="l"/>
            <a:r>
              <a:rPr lang="en-US" dirty="0"/>
              <a:t>YESHWANTH R - RA2211042010017</a:t>
            </a:r>
          </a:p>
          <a:p>
            <a:pPr algn="l"/>
            <a:r>
              <a:rPr lang="en-US" dirty="0"/>
              <a:t>KIRUTHIKA P - RA2211026010468</a:t>
            </a:r>
          </a:p>
          <a:p>
            <a:pPr algn="l"/>
            <a:r>
              <a:rPr lang="en-US" dirty="0"/>
              <a:t>SRIKAR SRINIVASAN – RA2211026010509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D8BFE-97BC-6E00-064D-88FA2D25FEAE}"/>
              </a:ext>
            </a:extLst>
          </p:cNvPr>
          <p:cNvSpPr txBox="1"/>
          <p:nvPr/>
        </p:nvSpPr>
        <p:spPr>
          <a:xfrm>
            <a:off x="8957187" y="6266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*VIDEO DEMO at end of ppt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2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9002-4EFB-DF60-9A55-C322A9BD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915754" cy="1532702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AI-Powered API Monitoring and Anomaly Detection System for Large-Scale Distributed Platforms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6507-DD97-78EC-0411-ED08515A8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IN" dirty="0"/>
              <a:t>	APIs are spread across on-prem, cloud, and multi-cloud, making monitoring a nightmare. Errors pop up, response times fluctuate, and predicting failures is tough.</a:t>
            </a:r>
          </a:p>
          <a:p>
            <a:r>
              <a:rPr lang="en-IN" dirty="0"/>
              <a:t>🔹 </a:t>
            </a:r>
            <a:r>
              <a:rPr lang="en-IN" b="1" dirty="0"/>
              <a:t>Logs? Standardized.</a:t>
            </a:r>
            <a:r>
              <a:rPr lang="en-IN" dirty="0"/>
              <a:t> We use </a:t>
            </a:r>
            <a:r>
              <a:rPr lang="en-IN" b="1" dirty="0" err="1"/>
              <a:t>OpenTelemetry</a:t>
            </a:r>
            <a:r>
              <a:rPr lang="en-IN" b="1" dirty="0"/>
              <a:t> + Logstash</a:t>
            </a:r>
            <a:r>
              <a:rPr lang="en-IN" dirty="0"/>
              <a:t> to collect and unify logs across environments.</a:t>
            </a:r>
            <a:br>
              <a:rPr lang="en-IN" dirty="0"/>
            </a:br>
            <a:r>
              <a:rPr lang="en-IN" dirty="0"/>
              <a:t>🔹 </a:t>
            </a:r>
            <a:r>
              <a:rPr lang="en-IN" b="1" dirty="0"/>
              <a:t>Anomalies? Detected.</a:t>
            </a:r>
            <a:r>
              <a:rPr lang="en-IN" dirty="0"/>
              <a:t> </a:t>
            </a:r>
            <a:r>
              <a:rPr lang="en-IN" b="1" dirty="0"/>
              <a:t>ML models (Isolation Forest, Prophet)</a:t>
            </a:r>
            <a:r>
              <a:rPr lang="en-IN" dirty="0"/>
              <a:t> flag performance spikes and predict failures before they happen.</a:t>
            </a:r>
            <a:br>
              <a:rPr lang="en-IN" dirty="0"/>
            </a:br>
            <a:r>
              <a:rPr lang="en-IN" dirty="0"/>
              <a:t>🔹 </a:t>
            </a:r>
            <a:r>
              <a:rPr lang="en-IN" b="1" dirty="0"/>
              <a:t>Alerts? Instant.</a:t>
            </a:r>
            <a:r>
              <a:rPr lang="en-IN" dirty="0"/>
              <a:t> Kibana dashboards + automated triggers keep teams ahead of issues.</a:t>
            </a:r>
          </a:p>
          <a:p>
            <a:pPr marL="0" indent="0">
              <a:buNone/>
            </a:pPr>
            <a:r>
              <a:rPr lang="en-US" b="1" dirty="0"/>
              <a:t>We bring structure to chaos—real-time insights, predictive monitoring, and seamless scaling.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470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F6077-17CF-C803-3EF0-743DF1B0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Before we start…</a:t>
            </a:r>
            <a:br>
              <a:rPr lang="en-US" dirty="0"/>
            </a:br>
            <a:r>
              <a:rPr lang="en-US" dirty="0"/>
              <a:t>How do we standout? </a:t>
            </a:r>
            <a:br>
              <a:rPr lang="en-US" dirty="0"/>
            </a:br>
            <a:r>
              <a:rPr lang="en-US" dirty="0"/>
              <a:t>Our differentiator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CA3E6-0F13-F414-F2E5-E7501DD67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Kafka for Minimal Real-Time Streaming 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b="1" dirty="0"/>
              <a:t>Why?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 Even though we’re </a:t>
            </a:r>
            <a:r>
              <a:rPr lang="en-IN" b="1" dirty="0"/>
              <a:t>sticking with ELK</a:t>
            </a:r>
            <a:r>
              <a:rPr lang="en-IN" dirty="0"/>
              <a:t>, Kafka will be </a:t>
            </a:r>
            <a:r>
              <a:rPr lang="en-IN" b="1" dirty="0"/>
              <a:t> a failover mechanism</a:t>
            </a:r>
            <a:r>
              <a:rPr lang="en-IN" dirty="0"/>
              <a:t> for event streaming.</a:t>
            </a:r>
          </a:p>
          <a:p>
            <a:pPr>
              <a:buNone/>
            </a:pPr>
            <a:r>
              <a:rPr lang="en-IN" b="1" dirty="0"/>
              <a:t>How?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APIs </a:t>
            </a:r>
            <a:r>
              <a:rPr lang="en-IN" b="1" dirty="0"/>
              <a:t>push logs into Kafka topics</a:t>
            </a:r>
            <a:r>
              <a:rPr lang="en-IN" dirty="0"/>
              <a:t> before sending to ELK.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ELK fails, Kafka can still </a:t>
            </a:r>
            <a:r>
              <a:rPr lang="en-IN" b="1" dirty="0"/>
              <a:t>temporarily buffer logs.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Logstash </a:t>
            </a:r>
            <a:r>
              <a:rPr lang="en-IN" b="1" dirty="0"/>
              <a:t>pulls logs from Kafka</a:t>
            </a:r>
            <a:r>
              <a:rPr lang="en-IN" dirty="0"/>
              <a:t> when needed.</a:t>
            </a:r>
          </a:p>
          <a:p>
            <a:pPr marL="0" indent="0">
              <a:buNone/>
            </a:pPr>
            <a:r>
              <a:rPr lang="en-IN" dirty="0"/>
              <a:t>Additionally Kafka + ELK is good for storage of vast logs. It helps in reprocessing historical logs as compared to JUST real time ingestion with </a:t>
            </a:r>
            <a:r>
              <a:rPr lang="en-IN" dirty="0" err="1"/>
              <a:t>logstash</a:t>
            </a:r>
            <a:r>
              <a:rPr lang="en-IN" dirty="0"/>
              <a:t> and Elastic. We have made a demo with Kafka and </a:t>
            </a:r>
            <a:r>
              <a:rPr lang="en-IN" dirty="0" err="1"/>
              <a:t>mongoDB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529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AC92-E9CA-2192-CD20-6688AACC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15"/>
            <a:ext cx="10515600" cy="1325563"/>
          </a:xfrm>
        </p:spPr>
        <p:txBody>
          <a:bodyPr/>
          <a:lstStyle/>
          <a:p>
            <a:r>
              <a:rPr lang="en-US" dirty="0"/>
              <a:t>Prototype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4E2EA-C1BF-E9B9-370D-2228EE3E4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677"/>
            <a:ext cx="105156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200" dirty="0"/>
              <a:t>🔹</a:t>
            </a:r>
            <a:r>
              <a:rPr lang="en-IN" sz="2200" b="1" dirty="0"/>
              <a:t>Step 1: API Logs &amp; Tracking</a:t>
            </a:r>
            <a:br>
              <a:rPr lang="en-IN" sz="2200" dirty="0"/>
            </a:br>
            <a:r>
              <a:rPr lang="en-IN" sz="2200" dirty="0"/>
              <a:t> APIs log response time, errors, and infra details.</a:t>
            </a:r>
            <a:br>
              <a:rPr lang="en-IN" sz="2200" dirty="0"/>
            </a:br>
            <a:r>
              <a:rPr lang="en-IN" sz="2200" dirty="0"/>
              <a:t> </a:t>
            </a:r>
            <a:r>
              <a:rPr lang="en-IN" sz="2200" b="1" dirty="0" err="1"/>
              <a:t>OpenTelemetry</a:t>
            </a:r>
            <a:r>
              <a:rPr lang="en-IN" sz="2200" b="1" dirty="0"/>
              <a:t> (</a:t>
            </a:r>
            <a:r>
              <a:rPr lang="en-IN" sz="2200" b="1" dirty="0" err="1"/>
              <a:t>OTel</a:t>
            </a:r>
            <a:r>
              <a:rPr lang="en-IN" sz="2200" b="1" dirty="0"/>
              <a:t>)</a:t>
            </a:r>
            <a:r>
              <a:rPr lang="en-IN" sz="2200" dirty="0"/>
              <a:t> grabs logs and sends them to </a:t>
            </a:r>
            <a:r>
              <a:rPr lang="en-IN" sz="2200" b="1" dirty="0"/>
              <a:t>Logstash</a:t>
            </a:r>
            <a:r>
              <a:rPr lang="en-IN" sz="2200" dirty="0"/>
              <a:t>.</a:t>
            </a:r>
          </a:p>
          <a:p>
            <a:pPr>
              <a:buNone/>
            </a:pPr>
            <a:r>
              <a:rPr lang="en-IN" sz="2200" dirty="0"/>
              <a:t>🔹 </a:t>
            </a:r>
            <a:r>
              <a:rPr lang="en-IN" sz="2200" b="1" dirty="0"/>
              <a:t>Step 2: Log Cleanup &amp; Boosting</a:t>
            </a:r>
            <a:br>
              <a:rPr lang="en-IN" sz="2200" dirty="0"/>
            </a:br>
            <a:r>
              <a:rPr lang="en-IN" sz="2200" dirty="0"/>
              <a:t> </a:t>
            </a:r>
            <a:r>
              <a:rPr lang="en-IN" sz="2200" b="1" dirty="0"/>
              <a:t>Logstash</a:t>
            </a:r>
            <a:r>
              <a:rPr lang="en-IN" sz="2200" dirty="0"/>
              <a:t> cleans, formats, and adds extra data (correlation ID, infra details).</a:t>
            </a:r>
            <a:br>
              <a:rPr lang="en-IN" sz="2200" dirty="0"/>
            </a:br>
            <a:r>
              <a:rPr lang="en-IN" sz="2200" dirty="0"/>
              <a:t> Logs go to </a:t>
            </a:r>
            <a:r>
              <a:rPr lang="en-IN" sz="2200" b="1" dirty="0"/>
              <a:t>Elasticsearch</a:t>
            </a:r>
            <a:r>
              <a:rPr lang="en-IN" sz="2200" dirty="0"/>
              <a:t> for fast search &amp; storage.</a:t>
            </a:r>
          </a:p>
          <a:p>
            <a:pPr>
              <a:buNone/>
            </a:pPr>
            <a:r>
              <a:rPr lang="en-IN" sz="2200" dirty="0"/>
              <a:t>🔹 </a:t>
            </a:r>
            <a:r>
              <a:rPr lang="en-IN" sz="2200" b="1" dirty="0"/>
              <a:t>Step 3: AI Spots Issues Before They Happen</a:t>
            </a:r>
            <a:br>
              <a:rPr lang="en-IN" sz="2200" dirty="0"/>
            </a:br>
            <a:r>
              <a:rPr lang="en-IN" sz="2200" dirty="0"/>
              <a:t> </a:t>
            </a:r>
            <a:r>
              <a:rPr lang="en-IN" sz="2200" b="1" dirty="0"/>
              <a:t>ML models scan Elasticsearch logs</a:t>
            </a:r>
            <a:r>
              <a:rPr lang="en-IN" sz="2200" dirty="0"/>
              <a:t> for weird patterns &amp; failures.</a:t>
            </a:r>
            <a:br>
              <a:rPr lang="en-IN" sz="2200" dirty="0"/>
            </a:br>
            <a:r>
              <a:rPr lang="en-IN" sz="2200" dirty="0"/>
              <a:t> </a:t>
            </a:r>
            <a:r>
              <a:rPr lang="en-IN" sz="2200" b="1" dirty="0"/>
              <a:t>Models we use:</a:t>
            </a:r>
            <a:br>
              <a:rPr lang="en-IN" sz="2200" dirty="0"/>
            </a:br>
            <a:r>
              <a:rPr lang="en-IN" sz="2200" dirty="0"/>
              <a:t>✔️ </a:t>
            </a:r>
            <a:r>
              <a:rPr lang="en-IN" sz="2200" b="1" dirty="0"/>
              <a:t>Isolation Forest</a:t>
            </a:r>
            <a:r>
              <a:rPr lang="en-IN" sz="2200" dirty="0"/>
              <a:t> → Finds sudden spikes in errors &amp; slowdowns.</a:t>
            </a:r>
            <a:br>
              <a:rPr lang="en-IN" sz="2200" dirty="0"/>
            </a:br>
            <a:r>
              <a:rPr lang="en-IN" sz="2200" dirty="0"/>
              <a:t>✔️ </a:t>
            </a:r>
            <a:r>
              <a:rPr lang="en-IN" sz="2200" b="1" dirty="0"/>
              <a:t>Prophet</a:t>
            </a:r>
            <a:r>
              <a:rPr lang="en-IN" sz="2200" dirty="0"/>
              <a:t> → Predicts future API failures based on past trends.</a:t>
            </a:r>
            <a:br>
              <a:rPr lang="en-IN" sz="2200" dirty="0"/>
            </a:br>
            <a:r>
              <a:rPr lang="en-IN" sz="2200" dirty="0"/>
              <a:t> ML runs as a </a:t>
            </a:r>
            <a:r>
              <a:rPr lang="en-IN" sz="2200" b="1" dirty="0"/>
              <a:t>microservice</a:t>
            </a:r>
            <a:r>
              <a:rPr lang="en-IN" sz="2200" dirty="0"/>
              <a:t> pulling real-time data.</a:t>
            </a:r>
          </a:p>
          <a:p>
            <a:r>
              <a:rPr lang="en-IN" sz="2200" dirty="0"/>
              <a:t>🔹 </a:t>
            </a:r>
            <a:r>
              <a:rPr lang="en-IN" sz="2200" b="1" dirty="0"/>
              <a:t>Step 4: Live Dashboards &amp; Alerts</a:t>
            </a:r>
            <a:br>
              <a:rPr lang="en-IN" sz="2200" dirty="0"/>
            </a:br>
            <a:r>
              <a:rPr lang="en-IN" sz="2200" dirty="0"/>
              <a:t> </a:t>
            </a:r>
            <a:r>
              <a:rPr lang="en-IN" sz="2200" b="1" dirty="0"/>
              <a:t>Kibana</a:t>
            </a:r>
            <a:r>
              <a:rPr lang="en-IN" sz="2200" dirty="0"/>
              <a:t> shows API health, trends &amp; problem areas.</a:t>
            </a:r>
            <a:br>
              <a:rPr lang="en-IN" sz="2200" dirty="0"/>
            </a:br>
            <a:r>
              <a:rPr lang="en-IN" sz="2200" dirty="0"/>
              <a:t> </a:t>
            </a:r>
            <a:r>
              <a:rPr lang="en-IN" sz="2200" b="1" dirty="0"/>
              <a:t>Instant Alerts</a:t>
            </a:r>
            <a:r>
              <a:rPr lang="en-IN" sz="2200" dirty="0"/>
              <a:t> fire when something goes wrong.</a:t>
            </a:r>
          </a:p>
        </p:txBody>
      </p:sp>
    </p:spTree>
    <p:extLst>
      <p:ext uri="{BB962C8B-B14F-4D97-AF65-F5344CB8AC3E}">
        <p14:creationId xmlns:p14="http://schemas.microsoft.com/office/powerpoint/2010/main" val="4185544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1045-442E-01E1-8182-8119A6DC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5471"/>
            <a:ext cx="9467593" cy="1632155"/>
          </a:xfrm>
        </p:spPr>
        <p:txBody>
          <a:bodyPr/>
          <a:lstStyle/>
          <a:p>
            <a:r>
              <a:rPr lang="en-US" dirty="0"/>
              <a:t>Application Prototype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B79D9-A0B3-A8E5-C72A-2BD39634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89" y="1897626"/>
            <a:ext cx="9905998" cy="3124201"/>
          </a:xfrm>
        </p:spPr>
        <p:txBody>
          <a:bodyPr>
            <a:noAutofit/>
          </a:bodyPr>
          <a:lstStyle/>
          <a:p>
            <a:r>
              <a:rPr lang="en-IN" sz="1600" b="1" dirty="0"/>
              <a:t>[</a:t>
            </a:r>
            <a:r>
              <a:rPr lang="en-IN" sz="1600" b="1" dirty="0">
                <a:solidFill>
                  <a:srgbClr val="FF0000"/>
                </a:solidFill>
              </a:rPr>
              <a:t>Cross environment API ingestion– Azure, </a:t>
            </a:r>
            <a:r>
              <a:rPr lang="en-IN" sz="1600" b="1" dirty="0" err="1">
                <a:solidFill>
                  <a:srgbClr val="FF0000"/>
                </a:solidFill>
              </a:rPr>
              <a:t>aws</a:t>
            </a:r>
            <a:r>
              <a:rPr lang="en-IN" sz="1600" b="1" dirty="0">
                <a:solidFill>
                  <a:srgbClr val="FF0000"/>
                </a:solidFill>
              </a:rPr>
              <a:t>, on-prem, etc. with </a:t>
            </a:r>
            <a:r>
              <a:rPr lang="en-IN" sz="1600" b="1" dirty="0" err="1">
                <a:solidFill>
                  <a:srgbClr val="FF0000"/>
                </a:solidFill>
              </a:rPr>
              <a:t>FastAPI</a:t>
            </a:r>
            <a:r>
              <a:rPr lang="en-IN" sz="1600" b="1" dirty="0"/>
              <a:t>]  -- &gt; [</a:t>
            </a:r>
            <a:r>
              <a:rPr lang="en-IN" sz="1600" b="1" dirty="0">
                <a:solidFill>
                  <a:srgbClr val="FF0000"/>
                </a:solidFill>
              </a:rPr>
              <a:t>Kafka Topics</a:t>
            </a:r>
            <a:r>
              <a:rPr lang="en-IN" sz="1600" b="1" dirty="0"/>
              <a:t>]</a:t>
            </a:r>
          </a:p>
          <a:p>
            <a:r>
              <a:rPr lang="en-IN" sz="1600" b="1" dirty="0"/>
              <a:t>    |</a:t>
            </a:r>
          </a:p>
          <a:p>
            <a:r>
              <a:rPr lang="en-IN" sz="1600" b="1" dirty="0"/>
              <a:t>    v</a:t>
            </a:r>
          </a:p>
          <a:p>
            <a:r>
              <a:rPr lang="en-IN" sz="1600" b="1" dirty="0"/>
              <a:t>[</a:t>
            </a:r>
            <a:r>
              <a:rPr lang="en-IN" sz="1600" b="1" dirty="0">
                <a:solidFill>
                  <a:srgbClr val="FF0000"/>
                </a:solidFill>
              </a:rPr>
              <a:t>Logstash (ELK)</a:t>
            </a:r>
            <a:r>
              <a:rPr lang="en-IN" sz="1600" b="1" dirty="0"/>
              <a:t>] -----&gt; [Enriched Log Processing]  </a:t>
            </a:r>
          </a:p>
          <a:p>
            <a:r>
              <a:rPr lang="en-IN" sz="1600" b="1" dirty="0"/>
              <a:t>    |                                   |  </a:t>
            </a:r>
          </a:p>
          <a:p>
            <a:r>
              <a:rPr lang="en-IN" sz="1600" b="1" dirty="0"/>
              <a:t>    v                                   </a:t>
            </a:r>
            <a:r>
              <a:rPr lang="en-IN" sz="1600" b="1" dirty="0" err="1"/>
              <a:t>v</a:t>
            </a:r>
            <a:r>
              <a:rPr lang="en-IN" sz="1600" b="1" dirty="0"/>
              <a:t>  </a:t>
            </a:r>
          </a:p>
          <a:p>
            <a:r>
              <a:rPr lang="en-IN" sz="1600" b="1" dirty="0"/>
              <a:t>[</a:t>
            </a:r>
            <a:r>
              <a:rPr lang="en-IN" sz="1600" b="1" dirty="0">
                <a:solidFill>
                  <a:srgbClr val="FF0000"/>
                </a:solidFill>
              </a:rPr>
              <a:t>Elasticsearch</a:t>
            </a:r>
            <a:r>
              <a:rPr lang="en-IN" sz="1600" b="1" dirty="0"/>
              <a:t>] &lt;---------------- [ML Anomaly Detection]  </a:t>
            </a:r>
          </a:p>
          <a:p>
            <a:r>
              <a:rPr lang="en-IN" sz="1600" b="1" dirty="0"/>
              <a:t>    |                                   |  </a:t>
            </a:r>
          </a:p>
          <a:p>
            <a:r>
              <a:rPr lang="en-IN" sz="1600" b="1" dirty="0"/>
              <a:t>    v                                   </a:t>
            </a:r>
            <a:r>
              <a:rPr lang="en-IN" sz="1600" b="1" dirty="0" err="1"/>
              <a:t>v</a:t>
            </a:r>
            <a:r>
              <a:rPr lang="en-IN" sz="1600" b="1" dirty="0"/>
              <a:t>  </a:t>
            </a:r>
          </a:p>
          <a:p>
            <a:r>
              <a:rPr lang="en-IN" sz="1600" b="1" dirty="0"/>
              <a:t>[</a:t>
            </a:r>
            <a:r>
              <a:rPr lang="en-IN" sz="1600" b="1" dirty="0">
                <a:solidFill>
                  <a:srgbClr val="FF0000"/>
                </a:solidFill>
              </a:rPr>
              <a:t>Kibana Dashboards and Alerts</a:t>
            </a:r>
            <a:r>
              <a:rPr lang="en-IN" sz="1600" b="1" dirty="0"/>
              <a:t>] ---------------&gt; [Alerting System]  </a:t>
            </a:r>
          </a:p>
          <a:p>
            <a:r>
              <a:rPr lang="en-IN" sz="1600" b="1" dirty="0"/>
              <a:t>    |                                   |  </a:t>
            </a:r>
          </a:p>
          <a:p>
            <a:r>
              <a:rPr lang="en-IN" sz="1600" b="1" dirty="0"/>
              <a:t>    v                                   </a:t>
            </a:r>
            <a:r>
              <a:rPr lang="en-IN" sz="1600" b="1" dirty="0" err="1"/>
              <a:t>v</a:t>
            </a:r>
            <a:r>
              <a:rPr lang="en-IN" sz="1600" b="1" dirty="0"/>
              <a:t>  </a:t>
            </a:r>
          </a:p>
          <a:p>
            <a:r>
              <a:rPr lang="en-IN" sz="1600" b="1" dirty="0"/>
              <a:t>[</a:t>
            </a:r>
            <a:r>
              <a:rPr lang="en-IN" sz="1600" b="1" dirty="0">
                <a:solidFill>
                  <a:srgbClr val="FF0000"/>
                </a:solidFill>
              </a:rPr>
              <a:t>Ops</a:t>
            </a:r>
            <a:r>
              <a:rPr lang="en-IN" sz="1600" b="1" dirty="0"/>
              <a:t> </a:t>
            </a:r>
            <a:r>
              <a:rPr lang="en-IN" sz="1600" b="1" dirty="0">
                <a:solidFill>
                  <a:srgbClr val="FF0000"/>
                </a:solidFill>
              </a:rPr>
              <a:t>Dashboard</a:t>
            </a:r>
            <a:r>
              <a:rPr lang="en-IN" sz="1600" b="1" dirty="0"/>
              <a:t>] ---------------&gt; [Slack/Email Alerts]</a:t>
            </a:r>
          </a:p>
        </p:txBody>
      </p:sp>
    </p:spTree>
    <p:extLst>
      <p:ext uri="{BB962C8B-B14F-4D97-AF65-F5344CB8AC3E}">
        <p14:creationId xmlns:p14="http://schemas.microsoft.com/office/powerpoint/2010/main" val="355965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C8589-B868-234C-B52E-79519321F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10DA0-F937-5A63-5A13-5A2095D7F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 Our ML Model: Smarter API Monitoring</a:t>
            </a:r>
          </a:p>
          <a:p>
            <a:pPr>
              <a:buNone/>
            </a:pPr>
            <a:r>
              <a:rPr lang="en-US" dirty="0"/>
              <a:t>We use a </a:t>
            </a:r>
            <a:r>
              <a:rPr lang="en-US" b="1" dirty="0"/>
              <a:t>hybrid AI approach</a:t>
            </a:r>
            <a:r>
              <a:rPr lang="en-US" dirty="0"/>
              <a:t> to catch issues in real-time and predict failures before they hit production:</a:t>
            </a:r>
          </a:p>
          <a:p>
            <a:pPr>
              <a:buNone/>
            </a:pPr>
            <a:r>
              <a:rPr lang="en-US" dirty="0"/>
              <a:t>🔹 </a:t>
            </a:r>
            <a:r>
              <a:rPr lang="en-US" b="1" dirty="0"/>
              <a:t>Isolation Forest</a:t>
            </a:r>
            <a:r>
              <a:rPr lang="en-US" dirty="0"/>
              <a:t> → Flags sudden spikes in response time &amp; error rates (great for real-time anomaly detection).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Prophet (Time-Series ML)</a:t>
            </a:r>
            <a:r>
              <a:rPr lang="en-US" dirty="0"/>
              <a:t> → Spots long-term trends and predicts future API failures based on patterns.</a:t>
            </a:r>
          </a:p>
          <a:p>
            <a:r>
              <a:rPr lang="en-US" dirty="0"/>
              <a:t> </a:t>
            </a:r>
            <a:r>
              <a:rPr lang="en-US" b="1" dirty="0"/>
              <a:t>How It Works:</a:t>
            </a:r>
            <a:br>
              <a:rPr lang="en-US" dirty="0"/>
            </a:br>
            <a:r>
              <a:rPr lang="en-US" dirty="0"/>
              <a:t>1️⃣ </a:t>
            </a:r>
            <a:r>
              <a:rPr lang="en-US" b="1" dirty="0"/>
              <a:t>Logs from Elasticsearch</a:t>
            </a:r>
            <a:r>
              <a:rPr lang="en-US" dirty="0"/>
              <a:t> feed into our ML microservice.</a:t>
            </a:r>
            <a:br>
              <a:rPr lang="en-US" dirty="0"/>
            </a:br>
            <a:r>
              <a:rPr lang="en-US" dirty="0"/>
              <a:t>2️⃣ </a:t>
            </a:r>
            <a:r>
              <a:rPr lang="en-US" b="1" dirty="0"/>
              <a:t>Anomalies &amp; predictions</a:t>
            </a:r>
            <a:r>
              <a:rPr lang="en-US" dirty="0"/>
              <a:t> are pushed back into Kibana for easy visualization.</a:t>
            </a:r>
            <a:br>
              <a:rPr lang="en-US" dirty="0"/>
            </a:br>
            <a:r>
              <a:rPr lang="en-US" dirty="0"/>
              <a:t>3️⃣ </a:t>
            </a:r>
            <a:r>
              <a:rPr lang="en-US" b="1" dirty="0"/>
              <a:t>Alerts trigger</a:t>
            </a:r>
            <a:r>
              <a:rPr lang="en-US" dirty="0"/>
              <a:t> when things go south, helping teams take action fast.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930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2EBA0-DA1C-1CE9-18C3-2A47CBFF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***How we handle varied structure, cross-environment APIs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8DA47-DB7C-0BBC-CAA7-4F31D8054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* Parsing &amp; Normalizing Logs Using Logstash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 Why? </a:t>
            </a:r>
            <a:br>
              <a:rPr lang="en-IN" dirty="0"/>
            </a:br>
            <a:r>
              <a:rPr lang="en-IN" dirty="0"/>
              <a:t>Each API has different field names and log levels (e.g., AWS logs have </a:t>
            </a:r>
            <a:r>
              <a:rPr lang="en-IN" dirty="0" err="1"/>
              <a:t>requestId</a:t>
            </a:r>
            <a:r>
              <a:rPr lang="en-IN" dirty="0"/>
              <a:t>, while an On-Prem system might use </a:t>
            </a:r>
            <a:r>
              <a:rPr lang="en-IN" dirty="0" err="1"/>
              <a:t>txn_id</a:t>
            </a:r>
            <a:r>
              <a:rPr lang="en-IN" dirty="0"/>
              <a:t>).</a:t>
            </a:r>
          </a:p>
          <a:p>
            <a:r>
              <a:rPr lang="en-IN" dirty="0"/>
              <a:t> How? </a:t>
            </a:r>
            <a:br>
              <a:rPr lang="en-IN" dirty="0"/>
            </a:br>
            <a:r>
              <a:rPr lang="en-IN" dirty="0"/>
              <a:t>Logstash mutates and renames fields dynamically using its filter plugin.</a:t>
            </a:r>
          </a:p>
        </p:txBody>
      </p:sp>
    </p:spTree>
    <p:extLst>
      <p:ext uri="{BB962C8B-B14F-4D97-AF65-F5344CB8AC3E}">
        <p14:creationId xmlns:p14="http://schemas.microsoft.com/office/powerpoint/2010/main" val="97999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C2DAE9-8405-83C9-21F1-B312D063E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460" y="1582994"/>
            <a:ext cx="9478297" cy="3490841"/>
          </a:xfrm>
        </p:spPr>
      </p:pic>
    </p:spTree>
    <p:extLst>
      <p:ext uri="{BB962C8B-B14F-4D97-AF65-F5344CB8AC3E}">
        <p14:creationId xmlns:p14="http://schemas.microsoft.com/office/powerpoint/2010/main" val="1843277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8376-8CB5-B66D-3E5B-FDEDBED04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plan to scale this into production environment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E447A-5726-23F1-BDFC-60FBE4744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444613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Taking This to Production</a:t>
            </a:r>
          </a:p>
          <a:p>
            <a:pPr>
              <a:buNone/>
            </a:pPr>
            <a:r>
              <a:rPr lang="en-US" sz="1600" dirty="0"/>
              <a:t>🔹 </a:t>
            </a:r>
            <a:r>
              <a:rPr lang="en-US" sz="1600" b="1" dirty="0"/>
              <a:t>Built for Scale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Everything runs in </a:t>
            </a:r>
            <a:r>
              <a:rPr lang="en-US" sz="1600" b="1" dirty="0"/>
              <a:t>microservices</a:t>
            </a:r>
            <a:r>
              <a:rPr lang="en-US" sz="1600" dirty="0"/>
              <a:t>, so we can add/remove pieces without breaking stuff.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Docker + Kubernetes</a:t>
            </a:r>
            <a:r>
              <a:rPr lang="en-US" sz="1600" dirty="0"/>
              <a:t> → Auto-scales when API traffic spikes.</a:t>
            </a:r>
          </a:p>
          <a:p>
            <a:pPr>
              <a:buNone/>
            </a:pPr>
            <a:r>
              <a:rPr lang="en-US" sz="1600" dirty="0"/>
              <a:t>🔹 </a:t>
            </a:r>
            <a:r>
              <a:rPr lang="en-US" sz="1600" b="1" dirty="0"/>
              <a:t>Handling Massive Log Volumes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Kafka</a:t>
            </a:r>
            <a:r>
              <a:rPr lang="en-US" sz="1600" dirty="0"/>
              <a:t> streams logs fast, no bottlenecks.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Elasticsearch clusters</a:t>
            </a:r>
            <a:r>
              <a:rPr lang="en-US" sz="1600" dirty="0"/>
              <a:t> grow as data grows.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Smart log storage → </a:t>
            </a:r>
            <a:r>
              <a:rPr lang="en-US" sz="1600" b="1" dirty="0"/>
              <a:t>Hot (live), Warm (old but useful), Cold (archive).</a:t>
            </a:r>
            <a:endParaRPr lang="en-US" sz="1600" dirty="0"/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B46B5-F3F0-613F-DE4A-312B1B59B07A}"/>
              </a:ext>
            </a:extLst>
          </p:cNvPr>
          <p:cNvSpPr txBox="1"/>
          <p:nvPr/>
        </p:nvSpPr>
        <p:spPr>
          <a:xfrm>
            <a:off x="6282813" y="1690688"/>
            <a:ext cx="5791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800" dirty="0"/>
              <a:t>🔹 </a:t>
            </a:r>
            <a:r>
              <a:rPr lang="en-US" sz="1800" b="1" dirty="0"/>
              <a:t>ML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Real-time alerts</a:t>
            </a:r>
            <a:r>
              <a:rPr lang="en-US" sz="1800" dirty="0"/>
              <a:t> (Isolation Forest) + </a:t>
            </a:r>
            <a:r>
              <a:rPr lang="en-US" sz="1800" b="1" dirty="0"/>
              <a:t>trend prediction</a:t>
            </a:r>
            <a:r>
              <a:rPr lang="en-US" sz="1800" dirty="0"/>
              <a:t> (Prophet).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ML models </a:t>
            </a:r>
            <a:r>
              <a:rPr lang="en-US" sz="1800" b="1" dirty="0"/>
              <a:t>retrain automatically</a:t>
            </a:r>
            <a:r>
              <a:rPr lang="en-US" sz="1800" dirty="0"/>
              <a:t> so they don’t get outdated.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Can run on </a:t>
            </a:r>
            <a:r>
              <a:rPr lang="en-US" sz="1800" b="1" dirty="0"/>
              <a:t>GPU servers for speed</a:t>
            </a:r>
            <a:r>
              <a:rPr lang="en-US" sz="1800" dirty="0"/>
              <a:t> when needed.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🔹 </a:t>
            </a:r>
            <a:r>
              <a:rPr lang="en-US" sz="1800" b="1" dirty="0"/>
              <a:t>Reliable &amp; Secure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Role-based access → Only the right people see logs &amp; alerts.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High availability</a:t>
            </a:r>
            <a:r>
              <a:rPr lang="en-US" sz="1800" dirty="0"/>
              <a:t> → No single point of failure.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Works </a:t>
            </a:r>
            <a:r>
              <a:rPr lang="en-US" sz="1800" b="1" dirty="0"/>
              <a:t>on cloud, on-prem, or both</a:t>
            </a:r>
            <a:r>
              <a:rPr lang="en-US" sz="1800" dirty="0"/>
              <a:t> (hybrid ready).</a:t>
            </a:r>
          </a:p>
        </p:txBody>
      </p:sp>
    </p:spTree>
    <p:extLst>
      <p:ext uri="{BB962C8B-B14F-4D97-AF65-F5344CB8AC3E}">
        <p14:creationId xmlns:p14="http://schemas.microsoft.com/office/powerpoint/2010/main" val="389735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29E7-00EE-9EBB-9E2C-5031ACFA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i="1" dirty="0"/>
              <a:t>VIDEO LINK SHARED AS CANVA DOCUMENT</a:t>
            </a:r>
            <a:endParaRPr lang="en-IN" sz="3600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B7DEF-3A14-2F5A-D872-E6C597424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https://www.canva.com/design/DAGjgflwtV0/VA5Yem-tke5LP_SxoN8IsQ/edit?utm_content=DAGjgflwtV0&amp;utm_campaign=designshare&amp;utm_medium=link2&amp;utm_source=sharebutton</a:t>
            </a:r>
            <a:endParaRPr lang="en-IN" dirty="0"/>
          </a:p>
          <a:p>
            <a:r>
              <a:rPr lang="en-IN" dirty="0"/>
              <a:t>For this demo we have made </a:t>
            </a:r>
            <a:r>
              <a:rPr lang="en-IN" dirty="0" err="1"/>
              <a:t>fastapi+kafka+mongodb</a:t>
            </a:r>
            <a:r>
              <a:rPr lang="en-IN" dirty="0"/>
              <a:t> prototype in the limited time. Trained a </a:t>
            </a:r>
            <a:r>
              <a:rPr lang="en-IN" dirty="0" err="1"/>
              <a:t>lstm</a:t>
            </a:r>
            <a:r>
              <a:rPr lang="en-IN" dirty="0"/>
              <a:t> model and checked its validation loss</a:t>
            </a:r>
          </a:p>
          <a:p>
            <a:endParaRPr lang="en-IN" dirty="0"/>
          </a:p>
          <a:p>
            <a:r>
              <a:rPr lang="en-IN" dirty="0"/>
              <a:t>We intend to use elk, make an alerting system , develop and tune an LSTM model that predicts log anomalies if given time and opportunity.</a:t>
            </a:r>
          </a:p>
        </p:txBody>
      </p:sp>
    </p:spTree>
    <p:extLst>
      <p:ext uri="{BB962C8B-B14F-4D97-AF65-F5344CB8AC3E}">
        <p14:creationId xmlns:p14="http://schemas.microsoft.com/office/powerpoint/2010/main" val="1493893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E568B-999C-0343-A232-D8EADADFB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000" dirty="0"/>
              <a:t>		THANKYOU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247773475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103</TotalTime>
  <Words>950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Parcel</vt:lpstr>
      <vt:lpstr>Team Gliders</vt:lpstr>
      <vt:lpstr>AI-Powered API Monitoring and Anomaly Detection System for Large-Scale Distributed Platforms</vt:lpstr>
      <vt:lpstr>Before we start… How do we standout?  Our differentiator</vt:lpstr>
      <vt:lpstr>Prototype Pipeline</vt:lpstr>
      <vt:lpstr>Application Prototype Architecture</vt:lpstr>
      <vt:lpstr>ML Model</vt:lpstr>
      <vt:lpstr>***How we handle varied structure, cross-environment APIs</vt:lpstr>
      <vt:lpstr>PowerPoint Presentation</vt:lpstr>
      <vt:lpstr>How we plan to scale this into production environment</vt:lpstr>
      <vt:lpstr>VIDEO LINK SHARED AS CANVA DOCUMENT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balachandar</dc:creator>
  <cp:lastModifiedBy>adarsh balachandar</cp:lastModifiedBy>
  <cp:revision>2</cp:revision>
  <dcterms:created xsi:type="dcterms:W3CDTF">2025-04-02T16:03:28Z</dcterms:created>
  <dcterms:modified xsi:type="dcterms:W3CDTF">2025-04-02T17:56:47Z</dcterms:modified>
</cp:coreProperties>
</file>